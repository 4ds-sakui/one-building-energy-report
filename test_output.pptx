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731520"/>
            <a:ext cx="4572000" cy="3657600"/>
          </a:xfrm>
          <a:prstGeom prst="rect">
            <a:avLst/>
          </a:prstGeom>
          <a:solidFill>
            <a:srgbClr val="397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Noto Sans JP"/>
              </a:defRPr>
            </a:pPr>
            <a:r>
              <a:t>one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JP"/>
              </a:defRPr>
            </a:pPr>
            <a:r>
              <a:t>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377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技術レポート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200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Noto Sans JP"/>
              </a:defRPr>
            </a:pPr>
            <a:r>
              <a:t>2026.02.10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  <a:latin typeface="Noto Sans JP"/>
              </a:defRPr>
            </a:pPr>
            <a:r>
              <a:t>BIM sustaina</a:t>
            </a:r>
          </a:p>
          <a:p>
            <a:pPr algn="r">
              <a:defRPr sz="1000">
                <a:solidFill>
                  <a:srgbClr val="6C757D"/>
                </a:solidFill>
                <a:latin typeface="Noto Sans JP"/>
              </a:defRPr>
            </a:pPr>
            <a:r>
              <a:t>for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C757D"/>
                </a:solidFill>
                <a:latin typeface="Noto Sans JP"/>
              </a:defRPr>
            </a:pPr>
            <a:r>
              <a:t>copyright © one building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97577"/>
                </a:solidFill>
                <a:latin typeface="Noto Sans JP"/>
              </a:defRPr>
            </a:pPr>
            <a:r>
              <a:t>1. 総合評価サマリー: 現状と経営リスク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  <a:latin typeface="Noto Sans JP"/>
              </a:defRPr>
            </a:pPr>
            <a:r>
              <a:t>建物名称: test  |  所在地: 東京都大田区1-2-3  |  延べ面積: 876.38 m²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  <a:latin typeface="Noto Sans JP"/>
              </a:defRPr>
            </a:pPr>
            <a:r>
              <a:t>診断結果: H28年基準適合 / 2024年基準非適合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8229600" cy="1645920"/>
          </a:xfrm>
          <a:prstGeom prst="roundRect">
            <a:avLst/>
          </a:prstGeom>
          <a:solidFill>
            <a:srgbClr val="F3FFF3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0"/>
              </a:spcAft>
              <a:defRPr sz="1600" b="1">
                <a:solidFill>
                  <a:srgbClr val="28A745"/>
                </a:solidFill>
                <a:latin typeface="Noto Sans JP"/>
              </a:defRPr>
            </a:pPr>
            <a:r>
              <a:t>▲優位性: 省エネ性能の強み</a:t>
            </a:r>
          </a:p>
          <a:p>
            <a:pPr>
              <a:spcAft>
                <a:spcPts val="800"/>
              </a:spcAft>
              <a:defRPr sz="1300" b="1">
                <a:solidFill>
                  <a:srgbClr val="000000"/>
                </a:solidFill>
                <a:latin typeface="Noto Sans JP"/>
              </a:defRPr>
            </a:pPr>
            <a:r>
              <a:t>2024年基準に適合し、ZEB基準未達成の省エネ性能を有しています。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Noto Sans JP"/>
              </a:defRPr>
            </a:pPr>
            <a:r>
              <a:t>● 法的適合: 省エネ適判をクリアし、建築確認申請がスムーズに進みます。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Noto Sans JP"/>
              </a:defRPr>
            </a:pPr>
            <a:r>
              <a:t>● 経済的メリット: 光熱費が抑えられ、長期的な運用コスト削減が期待できます。</a:t>
            </a:r>
          </a:p>
          <a:p>
            <a:pPr>
              <a:defRPr sz="1200">
                <a:solidFill>
                  <a:srgbClr val="000000"/>
                </a:solidFill>
                <a:latin typeface="Noto Sans JP"/>
              </a:defRPr>
            </a:pPr>
            <a:r>
              <a:t>● 社会的価値: ESG投資基準を満たし、企業価値向上に貢献します。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914400"/>
            <a:ext cx="1828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  <a:latin typeface="Noto Sans JP"/>
              </a:defRPr>
            </a:pPr>
            <a:r>
              <a:t>現在の BEI</a:t>
            </a:r>
          </a:p>
          <a:p>
            <a:pPr algn="ctr">
              <a:defRPr sz="4800" b="1">
                <a:solidFill>
                  <a:srgbClr val="28A745"/>
                </a:solidFill>
                <a:latin typeface="Noto Sans JP"/>
              </a:defRPr>
            </a:pPr>
            <a:r>
              <a:t>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1828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97577"/>
                </a:solidFill>
                <a:latin typeface="Noto Sans JP"/>
              </a:defRPr>
            </a:pPr>
            <a:r>
              <a:t>設備別BEIサマリー</a:t>
            </a:r>
          </a:p>
          <a:p>
            <a:pPr>
              <a:spcAft>
                <a:spcPts val="400"/>
              </a:spcAft>
              <a:defRPr sz="1100">
                <a:solidFill>
                  <a:srgbClr val="DC3545"/>
                </a:solidFill>
                <a:latin typeface="Noto Sans JP"/>
              </a:defRPr>
            </a:pPr>
            <a:r>
              <a:t>▲ 空調: 2.24</a:t>
            </a:r>
          </a:p>
          <a:p>
            <a:pPr>
              <a:spcAft>
                <a:spcPts val="400"/>
              </a:spcAft>
              <a:defRPr sz="1100">
                <a:solidFill>
                  <a:srgbClr val="28A745"/>
                </a:solidFill>
                <a:latin typeface="Noto Sans JP"/>
              </a:defRPr>
            </a:pPr>
            <a:r>
              <a:t>● 換気: 1.00</a:t>
            </a:r>
          </a:p>
          <a:p>
            <a:pPr>
              <a:spcAft>
                <a:spcPts val="400"/>
              </a:spcAft>
              <a:defRPr sz="1100">
                <a:solidFill>
                  <a:srgbClr val="DC3545"/>
                </a:solidFill>
                <a:latin typeface="Noto Sans JP"/>
              </a:defRPr>
            </a:pPr>
            <a:r>
              <a:t>▲ 照明: 5.00</a:t>
            </a:r>
          </a:p>
          <a:p>
            <a:pPr>
              <a:spcAft>
                <a:spcPts val="400"/>
              </a:spcAft>
              <a:defRPr sz="1100">
                <a:solidFill>
                  <a:srgbClr val="28A745"/>
                </a:solidFill>
                <a:latin typeface="Noto Sans JP"/>
              </a:defRPr>
            </a:pPr>
            <a:r>
              <a:t>● 給湯: 0.99</a:t>
            </a:r>
          </a:p>
          <a:p>
            <a:pPr>
              <a:spcAft>
                <a:spcPts val="400"/>
              </a:spcAft>
              <a:defRPr sz="1100">
                <a:solidFill>
                  <a:srgbClr val="DC3545"/>
                </a:solidFill>
                <a:latin typeface="Noto Sans JP"/>
              </a:defRPr>
            </a:pPr>
            <a:r>
              <a:t>▲ 昇降機: 3.00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97577"/>
                </a:solidFill>
                <a:latin typeface="Noto Sans JP"/>
              </a:defRPr>
            </a:pPr>
            <a:r>
              <a:t>エネルギー消費性能の詳細分析</a:t>
            </a:r>
          </a:p>
        </p:txBody>
      </p:sp>
      <p:pic>
        <p:nvPicPr>
          <p:cNvPr id="3" name="Picture 2" descr="tmp3k_7zur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45989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97577"/>
                </a:solidFill>
                <a:latin typeface="Noto Sans JP"/>
              </a:defRPr>
            </a:pPr>
            <a:r>
              <a:t>設備別一次エネルギー消費量の比較</a:t>
            </a:r>
          </a:p>
        </p:txBody>
      </p:sp>
      <p:pic>
        <p:nvPicPr>
          <p:cNvPr id="3" name="Picture 2" descr="tmp09p6dg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41598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97577"/>
                </a:solidFill>
                <a:latin typeface="Noto Sans JP"/>
              </a:defRPr>
            </a:pPr>
            <a:r>
              <a:t>2. 外皮性能評価とPAL*ワースト要因の詳細分析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97577"/>
                </a:solidFill>
                <a:latin typeface="Noto Sans JP"/>
              </a:defRPr>
            </a:pPr>
            <a:r>
              <a:t>外皮性能指標 (PAL*)</a:t>
            </a:r>
          </a:p>
          <a:p>
            <a:pPr algn="ctr">
              <a:spcAft>
                <a:spcPts val="600"/>
              </a:spcAft>
              <a:defRPr sz="3800" b="1">
                <a:solidFill>
                  <a:srgbClr val="397577"/>
                </a:solidFill>
                <a:latin typeface="Noto Sans JP"/>
              </a:defRPr>
            </a:pPr>
            <a:r>
              <a:t>410 MJ/m²・年</a:t>
            </a:r>
          </a:p>
          <a:p>
            <a:pPr algn="ctr">
              <a:defRPr sz="1100" b="1">
                <a:solidFill>
                  <a:srgbClr val="28A745"/>
                </a:solidFill>
                <a:latin typeface="Noto Sans JP"/>
              </a:defRPr>
            </a:pPr>
            <a:r>
              <a:t>BPI 0.82 (基準 500 に対して良好)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09728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97577"/>
                </a:solidFill>
                <a:latin typeface="Noto Sans JP"/>
              </a:defRPr>
            </a:pPr>
            <a:r>
              <a:t>負荷要因の分解分析: ワースト室の特定</a:t>
            </a:r>
          </a:p>
          <a:p>
            <a:pPr>
              <a:defRPr sz="1200">
                <a:latin typeface="Noto Sans JP"/>
              </a:defRPr>
            </a:pPr>
            <a:r>
              <a:t>外皮性能は全体的に良好です。設備側の改善に注力することで、BEI目標達成が可能です。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97577"/>
                </a:solidFill>
                <a:latin typeface="Noto Sans JP"/>
              </a:defRPr>
            </a:pPr>
            <a:r>
              <a:t>用途別エネルギー消費傾向: BEI分析</a:t>
            </a:r>
          </a:p>
        </p:txBody>
      </p:sp>
      <p:pic>
        <p:nvPicPr>
          <p:cNvPr id="3" name="Picture 2" descr="tmpp7h5i5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42741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97577"/>
                </a:solidFill>
                <a:latin typeface="Noto Sans JP"/>
              </a:defRPr>
            </a:pPr>
            <a:r>
              <a:t>3. ZEB化への改善ロードマップ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920240" cy="1554480"/>
          </a:xfrm>
          <a:prstGeom prst="roundRect">
            <a:avLst/>
          </a:prstGeom>
          <a:solidFill>
            <a:srgbClr val="F6F6F6"/>
          </a:solidFill>
          <a:ln w="25400">
            <a:solidFill>
              <a:srgbClr val="39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397577"/>
                </a:solidFill>
                <a:latin typeface="Noto Sans JP"/>
              </a:defRPr>
            </a:pPr>
            <a:r>
              <a:t>STEP 1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00000"/>
                </a:solidFill>
                <a:latin typeface="Noto Sans JP"/>
              </a:defRPr>
            </a:pPr>
            <a:r>
              <a:t>外皮性能の維持</a:t>
            </a:r>
          </a:p>
          <a:p>
            <a:pPr algn="ctr">
              <a:defRPr sz="900">
                <a:solidFill>
                  <a:srgbClr val="000000"/>
                </a:solidFill>
                <a:latin typeface="Noto Sans JP"/>
              </a:defRPr>
            </a:pPr>
            <a:r>
              <a:t>現状の良好な性能を維持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554480"/>
            <a:ext cx="1920240" cy="1554480"/>
          </a:xfrm>
          <a:prstGeom prst="roundRect">
            <a:avLst/>
          </a:prstGeom>
          <a:solidFill>
            <a:srgbClr val="F6F6F6"/>
          </a:solidFill>
          <a:ln w="25400">
            <a:solidFill>
              <a:srgbClr val="39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397577"/>
                </a:solidFill>
                <a:latin typeface="Noto Sans JP"/>
              </a:defRPr>
            </a:pPr>
            <a:r>
              <a:t>STEP 2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00000"/>
                </a:solidFill>
                <a:latin typeface="Noto Sans JP"/>
              </a:defRPr>
            </a:pPr>
            <a:r>
              <a:t>空調熱源の高効率化</a:t>
            </a:r>
          </a:p>
          <a:p>
            <a:pPr algn="ctr">
              <a:defRPr sz="900">
                <a:solidFill>
                  <a:srgbClr val="000000"/>
                </a:solidFill>
                <a:latin typeface="Noto Sans JP"/>
              </a:defRPr>
            </a:pPr>
            <a:r>
              <a:t>最大消費源の本質的改善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554480"/>
            <a:ext cx="1920240" cy="1554480"/>
          </a:xfrm>
          <a:prstGeom prst="roundRect">
            <a:avLst/>
          </a:prstGeom>
          <a:solidFill>
            <a:srgbClr val="F6F6F6"/>
          </a:solidFill>
          <a:ln w="25400">
            <a:solidFill>
              <a:srgbClr val="39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397577"/>
                </a:solidFill>
                <a:latin typeface="Noto Sans JP"/>
              </a:defRPr>
            </a:pPr>
            <a:r>
              <a:t>STEP 3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00000"/>
                </a:solidFill>
                <a:latin typeface="Noto Sans JP"/>
              </a:defRPr>
            </a:pPr>
            <a:r>
              <a:t>制御の徹底強化</a:t>
            </a:r>
          </a:p>
          <a:p>
            <a:pPr algn="ctr">
              <a:defRPr sz="900">
                <a:solidFill>
                  <a:srgbClr val="000000"/>
                </a:solidFill>
                <a:latin typeface="Noto Sans JP"/>
              </a:defRPr>
            </a:pPr>
            <a:r>
              <a:t>センサー連動制御の全域導入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554480"/>
            <a:ext cx="1920240" cy="1554480"/>
          </a:xfrm>
          <a:prstGeom prst="roundRect">
            <a:avLst/>
          </a:prstGeom>
          <a:solidFill>
            <a:srgbClr val="F6F6F6"/>
          </a:solidFill>
          <a:ln w="25400">
            <a:solidFill>
              <a:srgbClr val="39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397577"/>
                </a:solidFill>
                <a:latin typeface="Noto Sans JP"/>
              </a:defRPr>
            </a:pPr>
            <a:r>
              <a:t>STEP 4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00000"/>
                </a:solidFill>
                <a:latin typeface="Noto Sans JP"/>
              </a:defRPr>
            </a:pPr>
            <a:r>
              <a:t>創エネルギーの導入</a:t>
            </a:r>
          </a:p>
          <a:p>
            <a:pPr algn="ctr">
              <a:defRPr sz="900">
                <a:solidFill>
                  <a:srgbClr val="000000"/>
                </a:solidFill>
                <a:latin typeface="Noto Sans JP"/>
              </a:defRPr>
            </a:pPr>
            <a:r>
              <a:t>太陽光発電等の再エネ設備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397577"/>
                </a:solidFill>
                <a:latin typeface="Noto Sans JP"/>
              </a:defRPr>
            </a:pPr>
            <a:r>
              <a:t>期待される総合効果</a:t>
            </a:r>
          </a:p>
          <a:p>
            <a:pPr algn="ctr">
              <a:defRPr sz="1100">
                <a:latin typeface="Noto Sans JP"/>
              </a:defRPr>
            </a:pPr>
            <a:r>
              <a:t>現在のBEI 1.00 から ZEB Oriented 要件 0.70 まで、約 0.30 の削減が必要です。</a:t>
            </a:r>
            <a:br/>
            <a:r>
              <a:t>上記4ステップの実施により、段階的にBEI目標達成を目指します。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